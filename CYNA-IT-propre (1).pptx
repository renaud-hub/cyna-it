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6" r:id="rId11"/>
    <p:sldId id="266" r:id="rId12"/>
    <p:sldId id="267" r:id="rId13"/>
    <p:sldId id="268" r:id="rId14"/>
    <p:sldId id="269" r:id="rId15"/>
    <p:sldId id="293" r:id="rId16"/>
    <p:sldId id="273" r:id="rId17"/>
    <p:sldId id="295" r:id="rId18"/>
    <p:sldId id="271" r:id="rId19"/>
    <p:sldId id="272" r:id="rId20"/>
    <p:sldId id="287" r:id="rId21"/>
    <p:sldId id="294" r:id="rId22"/>
    <p:sldId id="288" r:id="rId23"/>
    <p:sldId id="289" r:id="rId24"/>
    <p:sldId id="274" r:id="rId25"/>
    <p:sldId id="275" r:id="rId26"/>
    <p:sldId id="276" r:id="rId27"/>
    <p:sldId id="277" r:id="rId28"/>
    <p:sldId id="278" r:id="rId29"/>
    <p:sldId id="279" r:id="rId30"/>
    <p:sldId id="290" r:id="rId31"/>
    <p:sldId id="291" r:id="rId32"/>
    <p:sldId id="292" r:id="rId33"/>
    <p:sldId id="280" r:id="rId34"/>
    <p:sldId id="281" r:id="rId35"/>
    <p:sldId id="282" r:id="rId36"/>
    <p:sldId id="283" r:id="rId37"/>
    <p:sldId id="284" r:id="rId38"/>
    <p:sldId id="285" r:id="rId3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43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894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9.jpg"/><Relationship Id="rId5" Type="http://schemas.openxmlformats.org/officeDocument/2006/relationships/image" Target="../media/image32.png"/><Relationship Id="rId6" Type="http://schemas.openxmlformats.org/officeDocument/2006/relationships/image" Target="../media/image4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1.png"/><Relationship Id="rId4" Type="http://schemas.openxmlformats.org/officeDocument/2006/relationships/image" Target="../media/image4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2.png"/><Relationship Id="rId4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g"/><Relationship Id="rId3" Type="http://schemas.openxmlformats.org/officeDocument/2006/relationships/image" Target="../media/image8.png"/><Relationship Id="rId4" Type="http://schemas.openxmlformats.org/officeDocument/2006/relationships/image" Target="../media/image4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g"/><Relationship Id="rId3" Type="http://schemas.openxmlformats.org/officeDocument/2006/relationships/image" Target="../media/image8.png"/><Relationship Id="rId4" Type="http://schemas.openxmlformats.org/officeDocument/2006/relationships/image" Target="../media/image4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8.png"/><Relationship Id="rId4" Type="http://schemas.openxmlformats.org/officeDocument/2006/relationships/image" Target="../media/image4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3" Type="http://schemas.openxmlformats.org/officeDocument/2006/relationships/image" Target="../media/image15.png"/><Relationship Id="rId4" Type="http://schemas.openxmlformats.org/officeDocument/2006/relationships/image" Target="../media/image4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4.png"/><Relationship Id="rId4" Type="http://schemas.openxmlformats.org/officeDocument/2006/relationships/image" Target="../media/image4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3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2194560" cy="2194560"/>
          </a:xfrm>
          <a:prstGeom prst="ellipse">
            <a:avLst/>
          </a:prstGeom>
          <a:solidFill>
            <a:srgbClr val="13294B"/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INGETIS · PROMOTION SRC 2025-2026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6916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CYNA-IT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managé Zero Trust hybride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multi-sites Paris · Genève — on-premise + Azure, virtualisée sur cluster Proxmox VE.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1312164" cy="4572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92040"/>
            <a:ext cx="13121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Atayi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363724" y="4892040"/>
            <a:ext cx="1984248" cy="4572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63724" y="4892040"/>
            <a:ext cx="198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Renaud Nassou Orou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6572" y="489204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6572" y="48920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Andegue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97396" y="4892040"/>
            <a:ext cx="1504188" cy="4572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97396" y="4892040"/>
            <a:ext cx="15041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Alouna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BC2 · Artefacts techniques BC3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554480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828800" y="174650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672" y="186537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16642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Réseau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00800" y="155448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Trust, topologie multi-sites, VLAN, VMs, VPN, accès distant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52374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77240" y="2523744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1828800" y="271576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7672" y="283464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14600" y="26334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SOC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400800" y="2523744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SIEM Wazuh/Suricata/Graylog, microsegmentation, utilisateurs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49300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77240" y="3493008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Shape 15"/>
          <p:cNvSpPr/>
          <p:nvPr/>
        </p:nvSpPr>
        <p:spPr>
          <a:xfrm>
            <a:off x="1828800" y="368503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672" y="380390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514600" y="360273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hybride Azure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00800" y="349300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ID, Intune, AVD, composants &amp; coûts, flux d'accès Zero Trust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46227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77240" y="4462272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6" name="Shape 20"/>
          <p:cNvSpPr/>
          <p:nvPr/>
        </p:nvSpPr>
        <p:spPr>
          <a:xfrm>
            <a:off x="1828800" y="465429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7672" y="4773168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514600" y="45720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SOAR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6400800" y="446227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Ansible, Terraform, Gitea, démo Attaque → Détection → Réponse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543153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777240" y="5431536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32" name="Shape 25"/>
          <p:cNvSpPr/>
          <p:nvPr/>
        </p:nvSpPr>
        <p:spPr>
          <a:xfrm>
            <a:off x="1828800" y="56235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7672" y="5742432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14600" y="554126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6400800" y="543153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Problématiques rencontrées, état réel vs Phase 2,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une vue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d'un SOC (Security Operations Center) managé pour PME clientes, bâti sur une architecture Zero Trust hybride combinant infrastructure on-premise et cloud Azure. Deux sites interconnectés, monitoring de sécurité centralisé, automatisation de la réponse aux incidents.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3383280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5204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355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37216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Genève (primaire) ↔ Paris, reliés par VPN IPSec IKEv2 chiffré.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886200" y="31546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087368" y="33832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352044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3355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800600" y="37216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 VLAN, moindre privilège, vérification continue.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7548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9808" y="498348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12064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4956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SIEM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463040" y="53218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Wazuh, Suricata, Graylog — détection et corrélation temps réel.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886200" y="47548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087368" y="498348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528" y="5120640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00600" y="4956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800600" y="53218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automatisée Ansible déclenchée sur alerte de sécurité.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315200" y="1508760"/>
            <a:ext cx="4325112" cy="4846320"/>
          </a:xfrm>
          <a:prstGeom prst="roundRect">
            <a:avLst>
              <a:gd name="adj" fmla="val 1691"/>
            </a:avLst>
          </a:prstGeom>
          <a:solidFill>
            <a:srgbClr val="0B1A2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75895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CHIFFRES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589520" y="2331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30" name="Text 23"/>
          <p:cNvSpPr/>
          <p:nvPr/>
        </p:nvSpPr>
        <p:spPr>
          <a:xfrm>
            <a:off x="9098280" y="23317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physiques simulés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89520" y="331927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</a:t>
            </a:r>
            <a:endParaRPr lang="en-US" sz="4200" dirty="0"/>
          </a:p>
        </p:txBody>
      </p:sp>
      <p:sp>
        <p:nvSpPr>
          <p:cNvPr id="32" name="Text 25"/>
          <p:cNvSpPr/>
          <p:nvPr/>
        </p:nvSpPr>
        <p:spPr>
          <a:xfrm>
            <a:off x="9098280" y="331927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virtuelles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7589520" y="430682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200" dirty="0"/>
          </a:p>
        </p:txBody>
      </p:sp>
      <p:sp>
        <p:nvSpPr>
          <p:cNvPr id="34" name="Text 27"/>
          <p:cNvSpPr/>
          <p:nvPr/>
        </p:nvSpPr>
        <p:spPr>
          <a:xfrm>
            <a:off x="9098280" y="4306824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vCores · 43 Go RAM alloués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7589520" y="5294376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36" name="Text 29"/>
          <p:cNvSpPr/>
          <p:nvPr/>
        </p:nvSpPr>
        <p:spPr>
          <a:xfrm>
            <a:off x="9098280" y="529437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d'équipe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&amp; les rôles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65960"/>
            <a:ext cx="868680" cy="8686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1945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Atayi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874520" y="2313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Infrastructure &amp; Réseau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874520" y="2697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Proxmox, pfSense, VLAN, VPN IPSec, accès distant.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46520" y="1965960"/>
            <a:ext cx="868680" cy="8686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1945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Renaud Nassou Orou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7498080" y="2313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&amp; Sécurité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498080" y="2697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Kanban, stack SIEM Wazuh / Suricata / Graylog.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4297680"/>
            <a:ext cx="868680" cy="8686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5262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4206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François Andegue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874520" y="4645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Systèmes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874520" y="5029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Directory, DNS/DHCP, synchronisation Azure / Entra ID.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17220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46520" y="429768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52628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0" y="4206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Alouna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7498080" y="4645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498080" y="5029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Ansible, Terraform (IaC Azure), dépôt Git Gitea, CI/CD.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agile &amp; pilotage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37944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19659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74650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Scrum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81328" y="210312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Renaud Scrum Master : sprints, points d'équipe réguliers, levée des blocages.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770632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008376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13639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1328" y="291693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hebdomadaire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81328" y="3273552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tâches mis à jour chaque semaine sur le tableau de bord Notion.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41064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17880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0682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40873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Git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81328" y="4443984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Gitea : playbooks Ansible et fichiers Terraform versionnés, README par playbook.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111496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" y="5349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547725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81328" y="5257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481328" y="561441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d'intégration et de déploiement continu via Azure DevOps.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452360" y="1600200"/>
            <a:ext cx="4187952" cy="4690872"/>
          </a:xfrm>
          <a:prstGeom prst="roundRect">
            <a:avLst>
              <a:gd name="adj" fmla="val 1747"/>
            </a:avLst>
          </a:prstGeom>
          <a:solidFill>
            <a:srgbClr val="0B1A2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77266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72668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~38,5</a:t>
            </a:r>
            <a:endParaRPr lang="en-US" sz="6000" dirty="0"/>
          </a:p>
        </p:txBody>
      </p:sp>
      <p:sp>
        <p:nvSpPr>
          <p:cNvPr id="29" name="Text 22"/>
          <p:cNvSpPr/>
          <p:nvPr/>
        </p:nvSpPr>
        <p:spPr>
          <a:xfrm>
            <a:off x="77266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— chemin critique respecté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863840" y="379476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Notion (source de vérité)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+ rituels d'équipe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BC2 (soutenance) + BC3 (artefacts)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fin de projet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-365760"/>
            <a:ext cx="5852160" cy="7498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0" b="1" dirty="0">
                <a:solidFill>
                  <a:srgbClr val="16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01 · ARCHITECTURE &amp; RÉSEAU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31012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Zero Trust à la couche physique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914400" y="448970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Zero Trust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494690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multi-sites &amp; VLAN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540410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5303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des machines virtuelles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586130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5760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IPSec &amp; accès distant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DIRECTEUR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: « Never trust, always verify »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67128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029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28800" y="26974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accès est authentifié, y compris en interne — aucune confiance implicite au réseau.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1645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1965960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167128"/>
            <a:ext cx="374904" cy="374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2029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452360" y="26974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minimaux attribués par VLAN et par utilisateur, au strict nécessaire.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5196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453128"/>
            <a:ext cx="374904" cy="374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315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28800" y="49834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VLAN isolent chaque zone réseau ; un compromis reste cloisonné.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7220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2240" y="425196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453128"/>
            <a:ext cx="374904" cy="374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4315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452360" y="49834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surveille les deux sites en temps réel et corrèle les événements.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Schéma d'infrastructure hybride Zero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74604" y="1463039"/>
            <a:ext cx="7042485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_topolog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6044" y="1554480"/>
            <a:ext cx="6859605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Vue d'ensemble : 2 sites (home-lab + pve-paris), VLAN segmentés, DMZ, VPN IPSec inter-sites et accès admin WireGuard.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PHYSIQUE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Proxmox VE — cluster bi-nœud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04825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home-lab — Genève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73736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primaire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737360" y="25420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: 192.168.1.100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: vmbr1 LAN-GE · vmbr2 LAN-PA · vmbr3 WAN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91072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65392" y="187452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04825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79792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pve-paris — Paris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479792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secondaire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479792" y="25420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: 192.168.1.102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65392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: vmbr1 LAN-GE · vmbr2 LAN-PA · vmbr3 WAN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de l'hôte principal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446520" cy="2103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 Ryzen 7 1700X — 8 cœurs / 16 threads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Go (≈ 8 Go réservés à l'hôte Proxmox)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 Go local-lvm (principal) + 98 Go local-dir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/ Cluster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Proxmox VE · cluster cyna-cluster, quorum 2/2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6"/>
          <p:cNvSpPr/>
          <p:nvPr/>
        </p:nvSpPr>
        <p:spPr>
          <a:xfrm>
            <a:off x="7269480" y="3611880"/>
            <a:ext cx="4370832" cy="2697480"/>
          </a:xfrm>
          <a:prstGeom prst="roundRect">
            <a:avLst>
              <a:gd name="adj" fmla="val 2712"/>
            </a:avLst>
          </a:prstGeom>
          <a:solidFill>
            <a:srgbClr val="0B1A2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54380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ALLOUÉ AUX VM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54380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9601200" y="4297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vCores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543800" y="49560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Go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601200" y="4956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543800" y="56144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 Go</a:t>
            </a:r>
            <a:endParaRPr lang="en-US" sz="3000" dirty="0"/>
          </a:p>
        </p:txBody>
      </p:sp>
      <p:sp>
        <p:nvSpPr>
          <p:cNvPr id="29" name="Text 23"/>
          <p:cNvSpPr/>
          <p:nvPr/>
        </p:nvSpPr>
        <p:spPr>
          <a:xfrm>
            <a:off x="9601200" y="5614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COUCHE PHYSIQUE ·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Cluster Proxmox en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742" y="1463039"/>
            <a:ext cx="1017021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_proxm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182" y="1554480"/>
            <a:ext cx="998733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Datacenter cyna-cluster — nœuds home-lab et pve-paris, l'ensemble des VM en exécution (quorum 2/2, PVE 9.2.3).</a:t>
            </a:r>
          </a:p>
        </p:txBody>
      </p:sp>
    </p:spTree>
    <p:extLst>
      <p:ext uri="{BB962C8B-B14F-4D97-AF65-F5344CB8AC3E}">
        <p14:creationId xmlns:p14="http://schemas.microsoft.com/office/powerpoint/2010/main" val="1102990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d'adressage &amp; VLAN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d'adressage global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532120" cy="2304288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LAN-Genève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10.10.0.0/24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primaire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LAN-Paris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10.20.0.0/24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secondaire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inter-pfSense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172.16.0.0/30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Lien VPN 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WireGuard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10.99.0.0/24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distant équipe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VNet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10.30.0.0/16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— Site Genève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20240"/>
          <a:ext cx="5239512" cy="31546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 / SIEM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10.10.20.0/24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10.10.30.0/24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Serveurs / 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10.10.40.0/24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10.10.50.0/23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Corp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10.10.60.0/23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Guest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10.10.90.0/24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10.10.100.0/24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10.10.200.0/24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Red-team (Kali)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10.10.250.0/24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370832"/>
            <a:ext cx="5532120" cy="868680"/>
          </a:xfrm>
          <a:prstGeom prst="roundRect">
            <a:avLst>
              <a:gd name="adj" fmla="val 8421"/>
            </a:avLst>
          </a:prstGeom>
          <a:solidFill>
            <a:srgbClr val="EAF2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777240" y="437083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— Site Paris 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Utilisateurs (10.20.110.0/24) · 120 Administrateurs (10.20.120.0/24).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548640" y="53492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3294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Zero Trust DMZ — </a:t>
            </a: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DMZ autorisé (HTTP/HTTPS) · DMZ → LAN bloqué (isolation) · LAN → DMZ autorisé (administration). </a:t>
            </a:r>
            <a:r>
              <a:rPr lang="en-US" sz="125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L'attaquant Kali est confiné au VLAN 250 dédié, jamais sur le réseau des clients.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· 🇨🇭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des VM — Site Genève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38912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vCPU/RAM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pfSense-Genève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pfSense 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Pare-feu · VPN IPSec · DHCP · VLAN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 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SRV-SERVICES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Server 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10.10.0.103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Veeam Backup · File Server · WSUS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6 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SRV-AD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Server 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10.10.40.10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DS · DNS · DHCP · NTP · Entra 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8 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SRV-SECU-GENEVE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10.10.0.105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 Manager · Graylog · Grafana · Suricata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12 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SRV-ANSIBLE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10.10.0.106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 · Terraform · Gitea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4 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CLIENT-GENEVE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Debian 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10.10.50.x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léger de test (VLAN 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512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ATTAQUANT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 Linux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10.10.250.x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d'intrusion (VLAN 250 red-team)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4 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150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Genève 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VM · 19 vCores · 36,5 Go RAM · 510 Go — le cœur du SOC (SIEM, AD, automatisation).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· 🇫🇷 + ☁️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— Site Paris &amp; Cloud Azure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Paris (vmbr2 — 10.20.0.0/24)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2011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vCPU/RAM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pfSense-Paris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pfSense 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Pare-feu · VPN IPSec · DHCP · VLAN 110/120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 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SRV-SECU-PARIS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 Agent · Suricata IDS 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4 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CLIENT-PARIS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Debian 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léger de test (VLAN 110)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512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Azure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91672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vm-cyna-test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Azure B1s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10.30.1.0/24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de test hybride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vnet-cyna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10.30.0.0/16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cloud CYNA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vpngw-cyna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 Azure ↔ pfSense Genève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Kali Linux (VM 110)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isolé sur le VLAN 250 dédié — jamais sur le même VLAN que les clients de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EF4444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INTERCONNEXION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IPSec site-à-site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93392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4884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pfSense-Genève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60020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10.10.0.1/24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172.16.0.2/30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04672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· DHCP · VLAN · IPSec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982712" y="173736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38744" y="1993392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14884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34272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pfSense-Paris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9034272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10.20.0.1/24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172.16.0.1/30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238744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· DHCP · VLAN · IPSec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06240" y="2606040"/>
            <a:ext cx="3776472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228600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0B1A2F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89204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Tunnel IPSec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37947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4672" y="40233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142232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(IKE)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22960" y="4663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IKEv2, chiffrement AES-256. Tunnel Established et stable entre les deux pfSense.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270248" y="37947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26280" y="402336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142232"/>
            <a:ext cx="265176" cy="26517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38928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(selectors)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44568" y="4663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Genève ↔ LAN Paris. Sélecteurs dédiés pour le sous-réseau AD (10.10.40.0/24) ↔ VLAN Paris 110 et 120.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991856" y="37947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47888" y="402336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4142232"/>
            <a:ext cx="265176" cy="2651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60536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validé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266176" y="4663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inter-sites LAN ↔ LAN à 0 % de perte. Règles firewall IPSec présentes des deux côtés.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INTERCONNEXION ·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Tunnel IPSec &amp; sélecteurs Phase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2270" y="1463039"/>
            <a:ext cx="6767153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5_vp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710" y="1554480"/>
            <a:ext cx="6584273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pfSense — tunnel IPSec établi et sélecteurs Phase 2 : LAN ↔ LAN et AD (10.10.40.0/24) ↔ VLAN Paris 110 / 120.</a:t>
            </a:r>
          </a:p>
        </p:txBody>
      </p:sp>
    </p:spTree>
    <p:extLst>
      <p:ext uri="{BB962C8B-B14F-4D97-AF65-F5344CB8AC3E}">
        <p14:creationId xmlns:p14="http://schemas.microsoft.com/office/powerpoint/2010/main" val="122439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&amp; règles Zero Trust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 filtrage Zero Trust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256032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66090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441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110 → 120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554480" y="27889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 Paris ne joignent pas le VLAN admin.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" y="3310128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" y="3538728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3639312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4198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VLAN120ADMINS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554480" y="37673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règles complet pour l'accès administrateur.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22960" y="4288536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05840" y="4517136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4617720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3982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⇏ LAN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554480" y="47457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DMZ ne peut pas remonter vers le réseau interne.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22960" y="5266944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05840" y="5495544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5596128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5376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final loggé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1554480" y="572414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reste est bloqué et journalisé vers le SIEM.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53912" y="160020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0B1A2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642823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250 — zone red-team (Kali)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428232" y="2331720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22C55E"/>
          </a:solidFill>
          <a:ln/>
        </p:spPr>
      </p:sp>
      <p:sp>
        <p:nvSpPr>
          <p:cNvPr id="31" name="Text 24"/>
          <p:cNvSpPr/>
          <p:nvPr/>
        </p:nvSpPr>
        <p:spPr>
          <a:xfrm>
            <a:off x="6428232" y="2331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800100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→ 10.10.0.106:22 (SSH vers la cible Ansible)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428232" y="299008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34" name="Text 27"/>
          <p:cNvSpPr/>
          <p:nvPr/>
        </p:nvSpPr>
        <p:spPr>
          <a:xfrm>
            <a:off x="6428232" y="299008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8001000" y="2990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local au VLAN 250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428232" y="3648456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EF4444"/>
          </a:solidFill>
          <a:ln/>
        </p:spPr>
      </p:sp>
      <p:sp>
        <p:nvSpPr>
          <p:cNvPr id="37" name="Text 30"/>
          <p:cNvSpPr/>
          <p:nvPr/>
        </p:nvSpPr>
        <p:spPr>
          <a:xfrm>
            <a:off x="6428232" y="3648456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+ LOG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8001000" y="36484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reste — confinement de l'attaquant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6153912" y="4892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6428232" y="507492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clé pfSense — </a:t>
            </a: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Adresse » cible la passerelle seule ; « Sous-réseaux » cible toute la plage. Les règles Zero Trust visent toujours le sous-réseau complet.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MICROSEGMENTATION ·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Règles de pare-feu pfSense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0972" y="1463039"/>
            <a:ext cx="808975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7_pfse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412" y="1554480"/>
            <a:ext cx="790687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Interfaces segmentées par VLAN (INTERNE, MANAGEMENT, SERVEURS, DMZ, ATTAQUANTLAB…) et règles de filtrage WAN.</a:t>
            </a:r>
          </a:p>
        </p:txBody>
      </p:sp>
    </p:spTree>
    <p:extLst>
      <p:ext uri="{BB962C8B-B14F-4D97-AF65-F5344CB8AC3E}">
        <p14:creationId xmlns:p14="http://schemas.microsoft.com/office/powerpoint/2010/main" val="901906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-365760"/>
            <a:ext cx="5852160" cy="7498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0" b="1" dirty="0">
                <a:solidFill>
                  <a:srgbClr val="16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14B8A6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02 · SÉCURITÉ &amp; SOC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31012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Détection, microsegmentation, identité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914400" y="44897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SIEM Wazuh / Suricata / Graylog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49469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&amp; règles Zero Trust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54041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5303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utilisateurs cible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sécurité Zero Trust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74520"/>
            <a:ext cx="713232" cy="71323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05740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04672" y="30815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central (VM 105) — collecte et corrèle les alertes de tous les agents des 2 sites.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70248" y="1600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26280" y="1874520"/>
            <a:ext cx="713232" cy="713232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05740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526280" y="30815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d'intrusion réseau en écoute sur les interfaces pfSense (Genève + Paris).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991856" y="1600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47888" y="1874520"/>
            <a:ext cx="713232" cy="71323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205740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47888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Graylog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247888" y="30815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et indexation des logs multi-sources pour investigation.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886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" y="4160520"/>
            <a:ext cx="713232" cy="713232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434340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4672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804672" y="53675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 VLAN + pare-feu Zero Trust sur les deux instances.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270248" y="3886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26280" y="4160520"/>
            <a:ext cx="713232" cy="71323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34340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2628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Agents</a:t>
            </a:r>
            <a:endParaRPr lang="en-US" sz="1550" dirty="0"/>
          </a:p>
        </p:txBody>
      </p:sp>
      <p:sp>
        <p:nvSpPr>
          <p:cNvPr id="30" name="Text 22"/>
          <p:cNvSpPr/>
          <p:nvPr/>
        </p:nvSpPr>
        <p:spPr>
          <a:xfrm>
            <a:off x="4526280" y="53675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Remontée des logs de chaque VM vers le Manager — Paris → Genève via IPSec.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7991856" y="3886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247888" y="4160520"/>
            <a:ext cx="713232" cy="71323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68" y="4343400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247888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MFA</a:t>
            </a:r>
            <a:endParaRPr lang="en-US" sz="1550" dirty="0"/>
          </a:p>
        </p:txBody>
      </p:sp>
      <p:sp>
        <p:nvSpPr>
          <p:cNvPr id="35" name="Text 26"/>
          <p:cNvSpPr/>
          <p:nvPr/>
        </p:nvSpPr>
        <p:spPr>
          <a:xfrm>
            <a:off x="8247888" y="53675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forte et Conditional Access pour l'accès cloud Zero Trust.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DÉTECTION ·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Wazuh — agents connectés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6071" y="1463039"/>
            <a:ext cx="79595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0_wazuh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511" y="1554480"/>
            <a:ext cx="777667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3 agents remontent vers le Manager Genève, couverture 100 % : agent-win-test, agent-ansible, agent-paris.</a:t>
            </a:r>
          </a:p>
        </p:txBody>
      </p:sp>
    </p:spTree>
    <p:extLst>
      <p:ext uri="{BB962C8B-B14F-4D97-AF65-F5344CB8AC3E}">
        <p14:creationId xmlns:p14="http://schemas.microsoft.com/office/powerpoint/2010/main" val="1385442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02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DÉTECTION ·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Wazuh — événements de sécurité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6240" y="1463039"/>
            <a:ext cx="6879214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2_wazuh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680" y="1554480"/>
            <a:ext cx="6696334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Integrity monitoring et flux d'événements de sécurité en temps réel dans le dashboard Wazuh.</a:t>
            </a:r>
          </a:p>
        </p:txBody>
      </p:sp>
    </p:spTree>
    <p:extLst>
      <p:ext uri="{BB962C8B-B14F-4D97-AF65-F5344CB8AC3E}">
        <p14:creationId xmlns:p14="http://schemas.microsoft.com/office/powerpoint/2010/main" val="3829132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DÉMO SOAR ·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Détection du brute-force SSH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9423" y="1463039"/>
            <a:ext cx="6972848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3_wazuh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863" y="1554480"/>
            <a:ext cx="6789968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Alerte Wazuh « sshd : tentative de connexion / mot de passe échoué » — la signature de l'attaque Hydra, détectée en direct.</a:t>
            </a:r>
          </a:p>
        </p:txBody>
      </p:sp>
    </p:spTree>
    <p:extLst>
      <p:ext uri="{BB962C8B-B14F-4D97-AF65-F5344CB8AC3E}">
        <p14:creationId xmlns:p14="http://schemas.microsoft.com/office/powerpoint/2010/main" val="3836300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utilisateurs (cible)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74520" y="1965960"/>
            <a:ext cx="868680" cy="8686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976" y="2185416"/>
            <a:ext cx="429768" cy="429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926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77724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Genève — postes fixes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22960" y="391363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léger + Azure Virtual Desktop (VDI). Le bureau virtuel hébergé dans Azure remplace les postes physiques lourds.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70248" y="16916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96128" y="1965960"/>
            <a:ext cx="868680" cy="8686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2185416"/>
            <a:ext cx="429768" cy="4297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98848" y="2926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6" name="Text 11"/>
          <p:cNvSpPr/>
          <p:nvPr/>
        </p:nvSpPr>
        <p:spPr>
          <a:xfrm>
            <a:off x="4498848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— postes fixes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544568" y="391363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fixes classiques joints au domaine cyna.local.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991856" y="16916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317736" y="196596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2185416"/>
            <a:ext cx="429768" cy="4297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0456" y="2926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22" name="Text 16"/>
          <p:cNvSpPr/>
          <p:nvPr/>
        </p:nvSpPr>
        <p:spPr>
          <a:xfrm>
            <a:off x="8220456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— commerciaux itinérants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66176" y="391363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portables gérés par Intune (chiffrement forcé, effacement à distance) + Entra ID Conditional Access.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21208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542239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502920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d'accès commercial Zero Trust — </a:t>
            </a:r>
            <a:r>
              <a:rPr lang="en-US" sz="13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portable → conformité Intune → identité + MFA Entra ID Conditional Access → accès autorisé à Dynamics 365 (CRM). Jamais d'accès direct au réseau Genève.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-365760"/>
            <a:ext cx="5852160" cy="7498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0" b="1" dirty="0">
                <a:solidFill>
                  <a:srgbClr val="16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0EA5E9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03 · CLOUD HYBRIDE AZURE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31012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Identité, mobilité et VDI dans le cloud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914400" y="4489704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Azure &amp; coûts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4946904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hybride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5404104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5303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d'accès commercial Zero Trust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EA5E9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Azure &amp; coûts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343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/ Azure 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Identité cloud, MFA, Conditional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AD Connect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Synchronisation AD local → Entra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Intune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MDM des 9 portables commerciaux Paris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 365 (CRM)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métier des commerciaux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Virtual Desktop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VDI cloud — bureaux virtuels Genève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VPN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Tunnel site-à-cloud sécurisé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~27 $/mois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VNet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cloud CYNA (10.30.0.0/16)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des ressources 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cloud → Graylog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Azure Student — 100 $ de crédits.   * version basique / limitée gratuite.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0EA5E9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HYBRIDE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hybride &amp; flux d'accès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035040" cy="4709160"/>
          </a:xfrm>
          <a:prstGeom prst="roundRect">
            <a:avLst>
              <a:gd name="adj" fmla="val 15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Chaînes hybrides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2402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local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cyna.local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377440" y="22402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80360" y="22402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0891B2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88036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Connect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480560" y="22402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983480" y="224028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EA5E9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83480" y="2240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7240" y="324612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3246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VPN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377440" y="32461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880360" y="324612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0891B2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880360" y="3246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480560" y="32461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983480" y="32461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EA5E9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983480" y="3246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VNet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77240" y="42519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" y="4251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on-prem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154680" y="4251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3657600" y="425196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14B8A6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657600" y="4251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Graylog centralisé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77240" y="50749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+ Azure Monitor remontent également vers Graylog (Phase 2).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702552" y="1600200"/>
            <a:ext cx="4937760" cy="4709160"/>
          </a:xfrm>
          <a:prstGeom prst="roundRect">
            <a:avLst>
              <a:gd name="adj" fmla="val 1553"/>
            </a:avLst>
          </a:prstGeom>
          <a:solidFill>
            <a:srgbClr val="0B1A2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9494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D'ACCÈS COMMERCIAL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949440" y="2423160"/>
            <a:ext cx="4434840" cy="658368"/>
          </a:xfrm>
          <a:prstGeom prst="roundRect">
            <a:avLst>
              <a:gd name="adj" fmla="val 833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86600" y="256946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2651760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589520" y="242316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portable commercial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7114032" y="3026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▼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949440" y="3246120"/>
            <a:ext cx="4434840" cy="658368"/>
          </a:xfrm>
          <a:prstGeom prst="roundRect">
            <a:avLst>
              <a:gd name="adj" fmla="val 833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086600" y="339242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3474720"/>
            <a:ext cx="201168" cy="20116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7589520" y="324612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conformité Intune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7114032" y="38496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▼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6949440" y="4069080"/>
            <a:ext cx="4434840" cy="658368"/>
          </a:xfrm>
          <a:prstGeom prst="roundRect">
            <a:avLst>
              <a:gd name="adj" fmla="val 833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086600" y="421538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4297680"/>
            <a:ext cx="201168" cy="20116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589520" y="40690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+ MFA Entra ID (Cond. Access)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7114032" y="46725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▼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949440" y="4892040"/>
            <a:ext cx="4434840" cy="658368"/>
          </a:xfrm>
          <a:prstGeom prst="roundRect">
            <a:avLst>
              <a:gd name="adj" fmla="val 8333"/>
            </a:avLst>
          </a:prstGeom>
          <a:solidFill>
            <a:srgbClr val="1329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7086600" y="5038344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896" y="5120640"/>
            <a:ext cx="201168" cy="20116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589520" y="489204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autorisé à Dynamics 365 (CRM)</a:t>
            </a:r>
            <a:endParaRPr lang="en-US" sz="1150" dirty="0"/>
          </a:p>
        </p:txBody>
      </p:sp>
      <p:sp>
        <p:nvSpPr>
          <p:cNvPr id="51" name="Text 44"/>
          <p:cNvSpPr/>
          <p:nvPr/>
        </p:nvSpPr>
        <p:spPr>
          <a:xfrm>
            <a:off x="6949440" y="5852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d'accès direct au réseau Genève.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-365760"/>
            <a:ext cx="5852160" cy="7498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0" b="1" dirty="0">
                <a:solidFill>
                  <a:srgbClr val="16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04 · DEVOPS &amp; SOAR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31012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et réponse aux incidents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914400" y="44897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· Terraform · Gitea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49469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SOAR live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54041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5303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technique de la chaîne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DevOps &amp; Infrastructure as Code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83080" y="2011680"/>
            <a:ext cx="1051560" cy="1051560"/>
          </a:xfrm>
          <a:prstGeom prst="ellipse">
            <a:avLst/>
          </a:prstGeom>
          <a:solidFill>
            <a:srgbClr val="EE000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2860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22960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on-premise : mises à jour, déploiement Docker, agents Wazuh, contrôle des services, rollback.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70248" y="16916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504688" y="2011680"/>
            <a:ext cx="1051560" cy="10515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08" y="2286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98848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544568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pour Azure : Resource Group, VNet, subnets, VPN Gateway — reproductible.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991856" y="16916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226296" y="2011680"/>
            <a:ext cx="1051560" cy="10515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616" y="22860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0456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Gitea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266176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 local sur SRV-ANSIBLE : versioning des playbooks et fichiers Terraform, README par playbook.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84632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68680" y="516636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5358384"/>
            <a:ext cx="393192" cy="3931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28800" y="498348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SOAR — </a:t>
            </a: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n'automatise pas seulement le déploiement : c'est aussi le moteur de réponse. Une alerte Wazuh peut déclencher un playbook qui bloque automatiquement l'attaquant au niveau du pare-feu.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AUTOMATISATION ·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Inventaire Ansible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60940" y="1463039"/>
            <a:ext cx="6869813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0_ansible_ho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380" y="1554480"/>
            <a:ext cx="6686933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/etc/ansible/hosts — groupes linux / windows, hôtes des deux sites et variables de connexion SSH.</a:t>
            </a:r>
          </a:p>
        </p:txBody>
      </p:sp>
    </p:spTree>
    <p:extLst>
      <p:ext uri="{BB962C8B-B14F-4D97-AF65-F5344CB8AC3E}">
        <p14:creationId xmlns:p14="http://schemas.microsoft.com/office/powerpoint/2010/main" val="126588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AUTOMATISATION ·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Playbook Ansible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607" y="1509260"/>
            <a:ext cx="10698480" cy="42509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1_playbook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47" y="1600700"/>
            <a:ext cx="10515600" cy="40680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Playbook versionné sur Gitea — vérification des services, exécution déclenchée par la réponse SOAR.</a:t>
            </a:r>
          </a:p>
        </p:txBody>
      </p:sp>
    </p:spTree>
    <p:extLst>
      <p:ext uri="{BB962C8B-B14F-4D97-AF65-F5344CB8AC3E}">
        <p14:creationId xmlns:p14="http://schemas.microsoft.com/office/powerpoint/2010/main" val="3659197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4206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891B2"/>
                </a:solidFill>
                <a:latin typeface="Calibri"/>
              </a:rPr>
              <a:t>INFRASTRUCTURE AS CODE ·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1A2F"/>
                </a:solidFill>
                <a:latin typeface="Calibri"/>
              </a:rPr>
              <a:t>Terraform — déploiement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5556" y="1463039"/>
            <a:ext cx="968058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0000" dist="34000" dir="5400000" rotWithShape="0">
              <a:srgbClr val="0B1A2F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2_playboo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996" y="1554480"/>
            <a:ext cx="949770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Calibri"/>
              </a:rPr>
              <a:t>main.tf — Resource Group et VNet « vnet-cyna » provisionnés dans Azure via Terraform.</a:t>
            </a:r>
          </a:p>
        </p:txBody>
      </p:sp>
    </p:spTree>
    <p:extLst>
      <p:ext uri="{BB962C8B-B14F-4D97-AF65-F5344CB8AC3E}">
        <p14:creationId xmlns:p14="http://schemas.microsoft.com/office/powerpoint/2010/main" val="487580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EF4444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— BC2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SOAR : Attaque → Détection → Réponse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3294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83080" y="2057400"/>
            <a:ext cx="1051560" cy="105156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2313432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246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ATTAQUE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4023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SSH (Hydra) depuis le VLAN 250 red-team vers SRV-ANSIBLE.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005072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</a:rPr>
              <a:t>➜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4453128" y="17373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3294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87568" y="2057400"/>
            <a:ext cx="1051560" cy="10515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313432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36008" y="3246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DÉTECTION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636008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— règle 5712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727448" y="4023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« sshd brute force » remontée en temps réel dans Security Events.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9095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</a:rPr>
              <a:t>➜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357616" y="17373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3294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92056" y="2057400"/>
            <a:ext cx="1051560" cy="105156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088" y="2313432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40496" y="3246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RÉPONSE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540496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 + Ansible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631936" y="4023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playbook block_attacker.yml bloque l'IP de l'attaquant au pare-feu.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A294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822960" y="5394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fermée. </a:t>
            </a: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Maillon détection (règle 5712) stable et démontré en direct. Maillon réponse via Active Response : firewall-drop natif en secours, chaîne Ansible complète pour le SOAR full.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22C55E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SOAR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technique de la chaîne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819656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17099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— brute-force SSH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0574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Kali (VLAN 250), tentatives répétées sur le port 22 de SRV-ANSIBLE (10.10.0.106).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2514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633472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" y="2852928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17320" y="2743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— règle 5712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30906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« sshd brute force » confirmée dans alerts.log et le dashboard Security Events.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14400" y="35478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66744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9808" y="3886200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17320" y="37764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417320" y="41239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Déclenchement automatique sur l'alerte — exécution du script de blocage.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4400" y="45811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700016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49808" y="4919472"/>
            <a:ext cx="475488" cy="47548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3"/>
          <p:cNvSpPr/>
          <p:nvPr/>
        </p:nvSpPr>
        <p:spPr>
          <a:xfrm>
            <a:off x="749808" y="4919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17320" y="4809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— block_attacker.yml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417320" y="515721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playbook ajoute une règle de blocage de l'IP attaquante au pare-feu.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086600" y="1600200"/>
            <a:ext cx="4553712" cy="2240280"/>
          </a:xfrm>
          <a:prstGeom prst="roundRect">
            <a:avLst>
              <a:gd name="adj" fmla="val 3265"/>
            </a:avLst>
          </a:prstGeom>
          <a:solidFill>
            <a:srgbClr val="0B1A2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3152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MODES DE RÉPONSE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315200" y="219456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location=local — </a:t>
            </a: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firewall-drop natif, fiable pour la démo live (secours).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location=server — </a:t>
            </a: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+ playbook Ansible pour la chaîne SOAR complète.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086600" y="3977640"/>
            <a:ext cx="4553712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31520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315200" y="4572000"/>
            <a:ext cx="42062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ossec.conf doit être édité côté hôte (monté en volume) — sinon réinitialisé au redémarrage du conteneur.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Active Response en root:wazuh, mode 750, sinon rejetés par Wazuh.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Docker forcé sur 172.20.0.0/16 pour éviter le conflit avec le LAN.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-365760"/>
            <a:ext cx="5852160" cy="7498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0" b="1" dirty="0">
                <a:solidFill>
                  <a:srgbClr val="163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 · BILAN &amp; PERSPECTIVES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31012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marche, ce qui reste à faire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914400" y="448970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Problématiques rencontrées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494690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réel vs Phase 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540410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5303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Problématiques rencontrées &amp; résolues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837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 de subnet Docker / LAN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22960" y="2423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stack Docker (Wazuh / Graylog) s'est auto-attribué le subnet du LAN de production (10.10.0.0/24), créant deux routes en conflit et une perte de connectivité intermittente sur les serveurs SOC.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22960" y="31729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par analyse des tables de routage (ip route), isolation du réseau Docker sur 172.20.0.0/16.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7220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28232" y="185623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6596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1837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de domaine multi-homé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46520" y="2423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SRV-AD disposait de deux passerelles par défaut (WAN DHCP + LAN), provoquant un routage asymétrique.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46520" y="31729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de la passerelle WAN + ajout de routes statiques inter-sites (10.20.110/120 → 10.10.40.245).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23367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215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 Wazuh (ossec.conf)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22960" y="4800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de configuration interne au conteneur Docker était réinitialisé à chaque redémarrage.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22960" y="55504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du fichier monté côté hôte ; scripts en root:wazuh, mode 750.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7220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28232" y="423367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3434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40880" y="4215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attaquant mal placé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446520" y="4800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était initialement sur le VLAN 200 (= DMZ).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46520" y="55504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vers un VLAN 250 red-team dédié, isolé du reste du réseau.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658368" cy="658368"/>
          </a:xfrm>
          <a:prstGeom prst="ellipse">
            <a:avLst/>
          </a:prstGeom>
          <a:solidFill>
            <a:srgbClr val="22C55E"/>
          </a:solidFill>
          <a:ln/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521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HONNÊTETÉ TECHNIQUE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réel : fait vs Phase 2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0020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Fait &amp; démontrable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33172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Proxmox bi-nœud (quorum 2/2)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2 sites + VPN IPSec IKEv2 AES-256 — ping LAN ↔ LAN 0 % perte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inter-VLAN : DENY 110→120, VLAN120ADMINS, DENY final loggé → SIEM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 + Indexer + Suricata + Graylog déployés (Docker)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Wazuh actives ; règle 5712 brute-force SSH validée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Remontée logs Paris → Manager Genève via IPSec (port 1514)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cyna.local + DC secondaire SRV-AD2 (réplication OK)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Ansible + Terraform versionnés sur Gitea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53912" y="160020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B1A2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53912" y="160020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382512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Phase 2 — documenté, non déployé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73952" y="233172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Connect — synchronisation hybride AD ↔ Entra ID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pfSense ↔ Azure VPN Gateway (bloqué par NAT / IP privée)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Azure (règles pare-feu cloud)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Virtual Desktop (VDI Genève) + Intune MDM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 Backup &amp; Replication (jobs de sauvegarde)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dashboards unifiés on-prem + Azure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→ Graylog, Microsoft Defender for Cloud</a:t>
            </a:r>
            <a:endParaRPr lang="en-US" sz="1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WireGuard Renaud / Junior (Tailscale en secours école)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640080"/>
            <a:ext cx="2103120" cy="2103120"/>
          </a:xfrm>
          <a:prstGeom prst="ellipse">
            <a:avLst/>
          </a:prstGeom>
          <a:solidFill>
            <a:srgbClr val="13294B"/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1325880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32588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 Zero Trust hybride, fonctionnel et démontrable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96265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788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réelle multi-sites virtualisée, interconnectée par VPN IPSec chiffré.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73989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3566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Zero Trust appliquée : microsegmentation VLAN et règles de moindre privilège.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51713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4343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SIEM/SOAR opérationnelle, démontrée en direct de l'attaque à la réponse.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822960" y="51663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29437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54480" y="51206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documenté avec honnêteté technique : le fait distingué clairement de la Phase 2.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822960" y="6080760"/>
            <a:ext cx="10515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CYNA-IT · CFA INGETIS — Promotion SRC 2025-2026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858000" y="6172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2754</Words>
  <Application>Microsoft Office PowerPoint</Application>
  <PresentationFormat>Personnalisé</PresentationFormat>
  <Paragraphs>548</Paragraphs>
  <Slides>38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CYNA-IT — SOC managé Zero Trust hybride</dc:title>
  <dc:subject>PptxGenJS Presentation</dc:subject>
  <dc:creator>Équipe CYNA-IT</dc:creator>
  <cp:lastModifiedBy>jordy oyobe</cp:lastModifiedBy>
  <cp:revision>3</cp:revision>
  <dcterms:created xsi:type="dcterms:W3CDTF">2026-06-29T08:36:10Z</dcterms:created>
  <dcterms:modified xsi:type="dcterms:W3CDTF">2026-06-29T09:17:15Z</dcterms:modified>
</cp:coreProperties>
</file>